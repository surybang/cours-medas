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70" r:id="rId13"/>
    <p:sldId id="272" r:id="rId14"/>
    <p:sldId id="271" r:id="rId15"/>
    <p:sldId id="269" r:id="rId16"/>
    <p:sldId id="273" r:id="rId17"/>
    <p:sldId id="275" r:id="rId18"/>
    <p:sldId id="274" r:id="rId19"/>
    <p:sldId id="276" r:id="rId20"/>
    <p:sldId id="278" r:id="rId21"/>
    <p:sldId id="279" r:id="rId22"/>
    <p:sldId id="277" r:id="rId23"/>
    <p:sldId id="280" r:id="rId2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7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1" autoAdjust="0"/>
    <p:restoredTop sz="87219" autoAdjust="0"/>
  </p:normalViewPr>
  <p:slideViewPr>
    <p:cSldViewPr snapToGrid="0" showGuides="1">
      <p:cViewPr>
        <p:scale>
          <a:sx n="70" d="100"/>
          <a:sy n="70" d="100"/>
        </p:scale>
        <p:origin x="1037" y="187"/>
      </p:cViewPr>
      <p:guideLst>
        <p:guide orient="horz" pos="2183"/>
        <p:guide pos="379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FA0FF-3B45-4022-B138-4D71EA82F88A}" type="datetimeFigureOut">
              <a:rPr lang="fr-FR" smtClean="0"/>
              <a:t>22/03/2026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D73784-A76B-44CD-ABF7-CCC7145897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6493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même code mais un résultat différent :</a:t>
            </a:r>
          </a:p>
          <a:p>
            <a:r>
              <a:rPr lang="fr-FR" dirty="0"/>
              <a:t>Version des packages différents =&gt; à gauche le code pourrait dater d’il y a un an et à droite du jour même</a:t>
            </a:r>
          </a:p>
          <a:p>
            <a:r>
              <a:rPr lang="fr-FR" dirty="0"/>
              <a:t>Dans les deux cas on a fait un « </a:t>
            </a:r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foo</a:t>
            </a:r>
            <a:r>
              <a:rPr lang="fr-FR" dirty="0"/>
              <a:t> » sauf qu’il y a un an la version de </a:t>
            </a:r>
            <a:r>
              <a:rPr lang="fr-FR" dirty="0" err="1"/>
              <a:t>foo</a:t>
            </a:r>
            <a:r>
              <a:rPr lang="fr-FR" dirty="0"/>
              <a:t> était peut-être 1.1.1 et maintenant on est passé à la </a:t>
            </a:r>
            <a:r>
              <a:rPr lang="fr-FR" dirty="0" err="1"/>
              <a:t>versio</a:t>
            </a:r>
            <a:r>
              <a:rPr lang="fr-FR" dirty="0"/>
              <a:t> 2.1.1. L’api n’a pas changé en elle-même, la fonction existe toujours mais produit un résultat différent.</a:t>
            </a:r>
          </a:p>
          <a:p>
            <a:r>
              <a:rPr lang="fr-FR" dirty="0"/>
              <a:t>C’est dérangeant sur les fonctions avec des paramètres par défaut</a:t>
            </a:r>
          </a:p>
          <a:p>
            <a:r>
              <a:rPr lang="fr-FR" dirty="0"/>
              <a:t>=&gt; Exemple la régression logistique de </a:t>
            </a:r>
            <a:r>
              <a:rPr lang="fr-FR" dirty="0" err="1"/>
              <a:t>scikitlearn</a:t>
            </a:r>
            <a:r>
              <a:rPr lang="fr-FR" dirty="0"/>
              <a:t> =&gt;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73784-A76B-44CD-ABF7-CCC714589703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9867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73784-A76B-44CD-ABF7-CCC714589703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4448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E4CA2-977A-6BDD-2009-85D836117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B2A6A7D-FD1A-5079-B12C-7004B10D0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6BED518-26B3-C03D-E384-27EDC0A7E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La situation est améliorée mais il y a toujours un problème avec la version python qui sera la même car .</a:t>
            </a:r>
            <a:r>
              <a:rPr lang="fr-FR" dirty="0" err="1"/>
              <a:t>venv</a:t>
            </a:r>
            <a:r>
              <a:rPr lang="fr-FR" dirty="0"/>
              <a:t> ne contient pas python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1DB7D5-F0DA-588B-6971-284E9160BE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73784-A76B-44CD-ABF7-CCC714589703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6060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4E353-7EC0-2E7B-74BD-A5F4E501F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CCF8E51-E06A-CDC7-1A12-6E63B83344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9224BEC-05B5-5F35-200A-FE79FC122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4044C5-400C-4944-30F4-FACDA7DEB1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73784-A76B-44CD-ABF7-CCC714589703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6186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1CE62-8D6E-8798-E6B9-F944045F4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8AF1E9F-7FC8-8204-A988-A5675A82C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058BA43-8C77-A077-3FE4-E63C8E44B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https://www.youtube.com/watch?v=hbHgIzIbzmQ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EB6A9D-FC2F-7900-4989-131B0F6D1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73784-A76B-44CD-ABF7-CCC714589703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39503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9E4F3-737A-DD8E-AC6E-4A73881C4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D3557B4-7F65-11CA-B6E9-DE92CDD8E5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27BE4BE-3486-C6AE-DA9C-2520881D3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D03AF8B-E5D5-D3F0-02D5-899095AC68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73784-A76B-44CD-ABF7-CCC714589703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9279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975B8-FA40-C0F7-7FA1-145C51CB3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7C24365-C6E1-4AAB-E712-6FD83F71D0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F4C4670-E1F8-F177-7BBE-275037F9C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https://astral.sh/blog/openai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CEA171-4534-5348-7B53-090FF1442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73784-A76B-44CD-ABF7-CCC714589703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99471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C77A7-6AA0-8BBD-7FB0-D9C3982DD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2FE7CBF-948F-0C05-9184-BE4965364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80E5897-5215-5787-C513-883DCC9C5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https://astral.sh/blog/openai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1B04463-FE06-0405-CDBD-AB8A7C1824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73784-A76B-44CD-ABF7-CCC714589703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28695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Structure et non pas organisation ou architecture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73784-A76B-44CD-ABF7-CCC714589703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70354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73784-A76B-44CD-ABF7-CCC714589703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99777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EAD48-7C3F-E53B-45F7-4A8BE15AE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A8BDCC8-2FCA-8519-BF05-AE5716425A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6ACFC5E-372A-A440-3612-0C2A086382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5C80E7C-ECB3-A4AA-2EB2-D3849E7FA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73784-A76B-44CD-ABF7-CCC714589703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71607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La data se structure et se professionnalise informatiquement parlant : fini les chargés d’études marketing qui font du </a:t>
            </a:r>
            <a:r>
              <a:rPr lang="fr-FR" dirty="0" err="1"/>
              <a:t>excel</a:t>
            </a:r>
            <a:endParaRPr lang="fr-FR" dirty="0"/>
          </a:p>
          <a:p>
            <a:r>
              <a:rPr lang="fr-FR" dirty="0"/>
              <a:t>On cherche à créer des livrables de qualité qui sont </a:t>
            </a:r>
            <a:r>
              <a:rPr lang="fr-FR" i="1" dirty="0"/>
              <a:t>observables</a:t>
            </a:r>
          </a:p>
          <a:p>
            <a:endParaRPr lang="fr-FR" i="1" dirty="0"/>
          </a:p>
          <a:p>
            <a:r>
              <a:rPr lang="fr-FR" i="0" dirty="0"/>
              <a:t>Comme dans la vie en général, nous sommes un maillon d’une chaine, ici vertueuse pour la data</a:t>
            </a:r>
          </a:p>
          <a:p>
            <a:endParaRPr lang="fr-FR" i="0" dirty="0"/>
          </a:p>
          <a:p>
            <a:r>
              <a:rPr lang="fr-FR" i="0" dirty="0"/>
              <a:t>Vous pouvez voir dans des offres d’emploi « capacité à concevoir du code production </a:t>
            </a:r>
            <a:r>
              <a:rPr lang="fr-FR" i="0" dirty="0" err="1"/>
              <a:t>ready</a:t>
            </a:r>
            <a:r>
              <a:rPr lang="fr-FR" i="0" dirty="0"/>
              <a:t> »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73784-A76B-44CD-ABF7-CCC714589703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1470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73784-A76B-44CD-ABF7-CCC714589703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93674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B35DD-72D1-65F4-176D-9B21029E3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1F60096-07C1-EC2C-50A0-9AF3526D6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0DEF606-0931-22B4-98F7-58531B712B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Src </a:t>
            </a:r>
            <a:r>
              <a:rPr lang="fr-FR" dirty="0" err="1"/>
              <a:t>layout</a:t>
            </a:r>
            <a:r>
              <a:rPr lang="fr-FR" dirty="0"/>
              <a:t> avec </a:t>
            </a:r>
            <a:r>
              <a:rPr lang="fr-FR" dirty="0" err="1"/>
              <a:t>uv</a:t>
            </a:r>
            <a:r>
              <a:rPr lang="fr-FR" dirty="0"/>
              <a:t> =&gt; modifier le </a:t>
            </a:r>
            <a:r>
              <a:rPr lang="fr-FR" dirty="0" err="1"/>
              <a:t>pyproject.toml</a:t>
            </a:r>
            <a:r>
              <a:rPr lang="fr-FR" dirty="0"/>
              <a:t> avec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[build-system] requires = ["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uv_build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&gt;=0.10.9,&lt;0.11.0"] build-backend = 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uv_build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C5D5B2-EF6F-0E85-56B3-6E202BCA92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73784-A76B-44CD-ABF7-CCC714589703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78731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0E85A-8458-7995-A0F9-F0853C309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E695F6A-BC6A-B5E0-52BB-D732729F8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A0E3A0A-8001-06FA-67AA-F94D09551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https://www.sarahglasmacher.com/ml-repo-starter-kit-src-layout-uv/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7250EBE-1834-6DEC-44F6-777D1F360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73784-A76B-44CD-ABF7-CCC714589703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81483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3E4A1-1A3D-20E9-D2D3-9A9DEE55A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15F9B81-3554-D593-9C1D-1C78ED04E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0953B39-582F-9FC1-EE54-590980E15F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Structure et non pas organisation ou architecture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532AF9E-BE80-EEC6-0B97-B47FF19BFF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73784-A76B-44CD-ABF7-CCC714589703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61149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Erreurs, imports inutiles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73784-A76B-44CD-ABF7-CCC714589703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06235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D2A93-83D1-468F-55E8-EB977495D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1B30C32-F07F-E7F0-EC1B-6F3CDB522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F25C9BE-2F85-07FE-49A7-B9647CBCA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Applique des règles</a:t>
            </a:r>
          </a:p>
          <a:p>
            <a:r>
              <a:rPr lang="fr-FR" dirty="0"/>
              <a:t>Indentations, espace</a:t>
            </a:r>
          </a:p>
          <a:p>
            <a:r>
              <a:rPr lang="fr-FR" dirty="0"/>
              <a:t>Il modifie/corrige</a:t>
            </a:r>
          </a:p>
          <a:p>
            <a:endParaRPr lang="fr-FR" dirty="0"/>
          </a:p>
          <a:p>
            <a:r>
              <a:rPr lang="fr-FR" dirty="0"/>
              <a:t>PEP8 =&gt; https://peps.python.org/pep-0008/</a:t>
            </a:r>
          </a:p>
          <a:p>
            <a:r>
              <a:rPr lang="fr-FR" dirty="0"/>
              <a:t>Python </a:t>
            </a:r>
            <a:r>
              <a:rPr lang="fr-FR" dirty="0" err="1"/>
              <a:t>Enhancement</a:t>
            </a:r>
            <a:r>
              <a:rPr lang="fr-FR" dirty="0"/>
              <a:t> </a:t>
            </a:r>
            <a:r>
              <a:rPr lang="fr-FR" dirty="0" err="1"/>
              <a:t>Proposal</a:t>
            </a:r>
            <a:endParaRPr lang="fr-FR" dirty="0"/>
          </a:p>
          <a:p>
            <a:r>
              <a:rPr lang="fr-FR" dirty="0"/>
              <a:t>Y’en a tout plein =&gt; https://peps.python.org/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2EA509-353B-5A8D-1E2B-6208BA9CE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73784-A76B-44CD-ABF7-CCC714589703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98159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B04F7-9E26-76E1-AD3D-A3221FE13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7D54A85-692F-EB28-1F55-E9B09B82F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31E3799-34B7-413A-E986-9CF10A9B2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3716AC8-C595-BE00-7F9B-9ECC2C0678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73784-A76B-44CD-ABF7-CCC714589703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7297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73784-A76B-44CD-ABF7-CCC714589703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51219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Biais cognitif // les gens incompétents surestiment leurs connaissances</a:t>
            </a:r>
          </a:p>
          <a:p>
            <a:endParaRPr lang="fr-FR" dirty="0"/>
          </a:p>
          <a:p>
            <a:r>
              <a:rPr lang="fr-FR" dirty="0"/>
              <a:t>+ loin : tests, ci/cd, </a:t>
            </a:r>
            <a:r>
              <a:rPr lang="fr-FR" dirty="0" err="1"/>
              <a:t>hooks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73784-A76B-44CD-ABF7-CCC714589703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0692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BBB79B-1DBE-18AA-D1D6-4446A46249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7852D21-BD24-9FA9-D0A0-36665CE919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79BB7B4-242C-43FB-B372-1882AE4B9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6E00-7D72-4E86-9426-36A613088232}" type="datetimeFigureOut">
              <a:rPr lang="fr-FR" smtClean="0"/>
              <a:t>22/03/2026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E257E9-CDC2-A2B3-0324-DBF097226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D74EEF-5198-2BC0-5CCE-72C555B06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D9F2-7C9B-4C14-B7EB-B2D0F34709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6250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CA96EF-0351-D811-9ED0-19A254601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CA512A-D0F2-0344-298A-35D84A820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A575D2-9E66-FE8A-36CA-2E00A36C6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6E00-7D72-4E86-9426-36A613088232}" type="datetimeFigureOut">
              <a:rPr lang="fr-FR" smtClean="0"/>
              <a:t>22/03/2026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6D66DE-F36F-F216-101B-99F25202A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A5F985-FD32-EC5E-B9E2-6935E95D9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D9F2-7C9B-4C14-B7EB-B2D0F34709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7632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03F169-541D-D254-B8A8-D9984CDC0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6AF7812-A7A8-2039-3C7F-129DEBEBA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4DCA610-DC54-ADA0-B6DE-86D26659B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6E00-7D72-4E86-9426-36A613088232}" type="datetimeFigureOut">
              <a:rPr lang="fr-FR" smtClean="0"/>
              <a:t>22/03/2026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E2AEDF-A00D-7A77-7CB0-3AF45DCE4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D28B30-DDA3-219C-8F85-4B54ED2CA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D9F2-7C9B-4C14-B7EB-B2D0F34709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90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117853-95F3-C2C2-8CBD-9392F6E1B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0931C0-5B86-64B9-63C3-15BE01905B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13A94FA-833D-FE4F-DE3F-8CC6D7384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2AB038A-D0FE-EABF-A66F-EE11001D4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6E00-7D72-4E86-9426-36A613088232}" type="datetimeFigureOut">
              <a:rPr lang="fr-FR" smtClean="0"/>
              <a:t>22/03/2026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CAF0E46-EA57-607D-3A08-E1B4ED04F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4DE17FB-3822-FD08-2454-5EED5E716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D9F2-7C9B-4C14-B7EB-B2D0F34709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6038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747E63-380A-F328-BB9C-6F5D9257E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DACA4C6-694F-0ADD-3C2B-C9518784A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41E271-76C2-7485-ADE4-945EAA088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4A51437-9ED3-D4F8-C683-C17B84D50D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3912AE1-E47F-2FB6-8817-E0DB11F6F9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A137093-6132-6141-8E58-6CC36C5B0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6E00-7D72-4E86-9426-36A613088232}" type="datetimeFigureOut">
              <a:rPr lang="fr-FR" smtClean="0"/>
              <a:t>22/03/2026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D3B86B8-8968-7D04-69D2-2053A6CFD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0A6EE3E-0701-8BF5-7740-69FED65A4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D9F2-7C9B-4C14-B7EB-B2D0F34709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1617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ED8B4D-953A-45DE-343A-C70B21849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51152A1-675D-BE2A-F199-0AD4AA7B8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6E00-7D72-4E86-9426-36A613088232}" type="datetimeFigureOut">
              <a:rPr lang="fr-FR" smtClean="0"/>
              <a:t>22/03/2026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28B09A8-0E70-10FC-00EC-6D0E97601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DAB2992-E643-595B-DA74-0EA6B0B33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D9F2-7C9B-4C14-B7EB-B2D0F34709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8084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4473EA9-D0D9-E025-4106-7A43CC35A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6E00-7D72-4E86-9426-36A613088232}" type="datetimeFigureOut">
              <a:rPr lang="fr-FR" smtClean="0"/>
              <a:t>22/03/2026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50BB5E5-B4C4-1C7E-5E64-BB5AE5890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1327910-E310-1EC5-B3EF-46E2F7F67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D9F2-7C9B-4C14-B7EB-B2D0F34709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3126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64ADD6-2635-89A7-E9AC-43D9A9596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5C42B9-517E-4D00-5795-0A3834DC5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93D87DF-2E49-4906-13C5-757CD2BF58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D98286C-45F7-AC89-A2E5-B813B4D3A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6E00-7D72-4E86-9426-36A613088232}" type="datetimeFigureOut">
              <a:rPr lang="fr-FR" smtClean="0"/>
              <a:t>22/03/2026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439802E-C690-BE11-9FB1-CFB14D06A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7FE759C-D004-E7B5-DBB6-3F89136C3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D9F2-7C9B-4C14-B7EB-B2D0F34709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7325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49D544-2382-A25C-09F6-F46698E41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5D0966F-1EA0-85EE-4065-2D7753BE0F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94EED93-EF0D-99AB-83AA-24786E8850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E33B5ED-66CD-C3CA-7A4D-712BC394B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6E00-7D72-4E86-9426-36A613088232}" type="datetimeFigureOut">
              <a:rPr lang="fr-FR" smtClean="0"/>
              <a:t>22/03/2026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0C52E6-255E-96C6-5B80-9EE80BFFF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5F1F5D-CEE6-9EC4-2512-41522BAF1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D9F2-7C9B-4C14-B7EB-B2D0F34709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0173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09CBE4-598F-CD41-8900-20F24995B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96FB83E-E57B-4AEF-76B1-D889355CA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07573A-290F-ABD0-2619-C5DF32016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6E00-7D72-4E86-9426-36A613088232}" type="datetimeFigureOut">
              <a:rPr lang="fr-FR" smtClean="0"/>
              <a:t>22/03/2026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396A62-E47F-470E-C910-3992147CF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B4F698-A7DA-7BE6-D932-6DFEE3467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D9F2-7C9B-4C14-B7EB-B2D0F34709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7508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32982C6-1557-DAB9-8197-3CDDF16ADA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B6E8C10-025F-B27A-6FC5-8960E72CB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3D0B8D-47A3-7771-F29C-F4E0CE4D8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56E00-7D72-4E86-9426-36A613088232}" type="datetimeFigureOut">
              <a:rPr lang="fr-FR" smtClean="0"/>
              <a:t>22/03/2026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763690-EA06-EB28-A9A5-754341344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3C30350-A1E3-1999-F204-FE4E8A21F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D9F2-7C9B-4C14-B7EB-B2D0F34709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9083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A734C95-2984-74E2-EF22-2971186E5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6F8C9E3-7570-0482-77E9-261CD065C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FE41F7-F674-2904-FE62-BE2B18DFFD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056E00-7D72-4E86-9426-36A613088232}" type="datetimeFigureOut">
              <a:rPr lang="fr-FR" smtClean="0"/>
              <a:t>22/03/2026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6AA6E2-FF09-A2AF-169F-F95E376008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AC382B-1227-2240-474E-0C77F8D39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91D9F2-7C9B-4C14-B7EB-B2D0F34709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4633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microsoft.com/office/2007/relationships/hdphoto" Target="../media/hdphoto1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astral.sh/blog/openai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s://docs.astral.sh/uv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hyperlink" Target="https://datalab.sspcloud.fr/my-service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4.png"/><Relationship Id="rId7" Type="http://schemas.microsoft.com/office/2007/relationships/hdphoto" Target="../media/hdphoto1.wd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6.png"/><Relationship Id="rId7" Type="http://schemas.microsoft.com/office/2007/relationships/hdphoto" Target="../media/hdphoto1.wd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microsoft.com/office/2007/relationships/hdphoto" Target="../media/hdphoto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0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1.png"/><Relationship Id="rId4" Type="http://schemas.openxmlformats.org/officeDocument/2006/relationships/hyperlink" Target="https://www.data-bird.co/blog/quest-ce-que-le-data-ops-fiche-metier-etudes-et-salaires" TargetMode="External"/><Relationship Id="rId9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2.png"/><Relationship Id="rId7" Type="http://schemas.microsoft.com/office/2007/relationships/hdphoto" Target="../media/hdphoto1.wd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ookiecutter.io/templates" TargetMode="External"/><Relationship Id="rId3" Type="http://schemas.openxmlformats.org/officeDocument/2006/relationships/image" Target="../media/image25.png"/><Relationship Id="rId7" Type="http://schemas.microsoft.com/office/2007/relationships/hdphoto" Target="../media/hdphoto1.wd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26.png"/><Relationship Id="rId7" Type="http://schemas.microsoft.com/office/2007/relationships/hdphoto" Target="../media/hdphoto1.wdp"/><Relationship Id="rId12" Type="http://schemas.openxmlformats.org/officeDocument/2006/relationships/hyperlink" Target="https://docs.astral.sh/ruff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28.png"/><Relationship Id="rId5" Type="http://schemas.openxmlformats.org/officeDocument/2006/relationships/image" Target="../media/image6.svg"/><Relationship Id="rId10" Type="http://schemas.openxmlformats.org/officeDocument/2006/relationships/hyperlink" Target="https://en.wikipedia.org/wiki/Lint_(material)" TargetMode="External"/><Relationship Id="rId4" Type="http://schemas.openxmlformats.org/officeDocument/2006/relationships/image" Target="../media/image5.png"/><Relationship Id="rId9" Type="http://schemas.openxmlformats.org/officeDocument/2006/relationships/hyperlink" Target="https://en.wikipedia.org/wiki/Lint_(software)" TargetMode="Externa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2.gif"/><Relationship Id="rId7" Type="http://schemas.microsoft.com/office/2007/relationships/hdphoto" Target="../media/hdphoto1.wdp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5.png"/><Relationship Id="rId7" Type="http://schemas.openxmlformats.org/officeDocument/2006/relationships/image" Target="../media/image3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hyperlink" Target="https://en.wikipedia.org/wiki/Dunning%E2%80%93Kruger_eff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9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84B860F8-D38E-5EBA-8355-E7FEEAD2E46F}"/>
              </a:ext>
            </a:extLst>
          </p:cNvPr>
          <p:cNvSpPr txBox="1">
            <a:spLocks/>
          </p:cNvSpPr>
          <p:nvPr/>
        </p:nvSpPr>
        <p:spPr>
          <a:xfrm>
            <a:off x="629055" y="2672287"/>
            <a:ext cx="9144000" cy="13017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fr-F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ist SemiBold" pitchFamily="2" charset="0"/>
                <a:ea typeface="Geist SemiBold" pitchFamily="2" charset="0"/>
                <a:cs typeface="Geist SemiBold" pitchFamily="2" charset="0"/>
              </a:rPr>
            </a:br>
            <a:r>
              <a:rPr kumimoji="0" lang="fr-F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ist SemiBold" pitchFamily="2" charset="0"/>
                <a:ea typeface="Geist SemiBold" pitchFamily="2" charset="0"/>
                <a:cs typeface="Geist SemiBold" pitchFamily="2" charset="0"/>
              </a:rPr>
              <a:t>Outils de données</a:t>
            </a:r>
          </a:p>
        </p:txBody>
      </p:sp>
      <p:pic>
        <p:nvPicPr>
          <p:cNvPr id="5" name="Image 4" descr="Une image contenant symbole, noir et blanc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11732BF6-FB5F-7ABD-88F3-C8FA8D1A5A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058" y="3423803"/>
            <a:ext cx="1472807" cy="147280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CC9DEB6-DE85-7515-5E75-F7A50F7555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7010" y="2694331"/>
            <a:ext cx="1027729" cy="749964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251D49C8-2FEE-6364-CEC2-5E4DE7098AF5}"/>
              </a:ext>
            </a:extLst>
          </p:cNvPr>
          <p:cNvSpPr txBox="1">
            <a:spLocks/>
          </p:cNvSpPr>
          <p:nvPr/>
        </p:nvSpPr>
        <p:spPr>
          <a:xfrm>
            <a:off x="629055" y="4745882"/>
            <a:ext cx="9144000" cy="4901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ist" pitchFamily="2" charset="0"/>
                <a:ea typeface="Geist" pitchFamily="2" charset="0"/>
                <a:cs typeface="Geist" pitchFamily="2" charset="0"/>
              </a:rPr>
              <a:t>Excel, Python et Git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ist" pitchFamily="2" charset="0"/>
              <a:ea typeface="Geist" pitchFamily="2" charset="0"/>
              <a:cs typeface="Geist" pitchFamily="2" charset="0"/>
            </a:endParaRPr>
          </a:p>
        </p:txBody>
      </p:sp>
      <p:pic>
        <p:nvPicPr>
          <p:cNvPr id="8" name="Image 7" descr="Une image contenant symbole, logo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9F7E2C77-24C3-A180-B6D8-B704475AB1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3055" y="-959123"/>
            <a:ext cx="1582961" cy="1472807"/>
          </a:xfrm>
          <a:prstGeom prst="rect">
            <a:avLst/>
          </a:prstGeom>
        </p:spPr>
      </p:pic>
      <p:pic>
        <p:nvPicPr>
          <p:cNvPr id="9" name="Image 8" descr="Une image contenant clipart, symbole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B0303CDE-8AE4-F2A0-D8EB-73F9B1429A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94" y="1230867"/>
            <a:ext cx="1460125" cy="1475753"/>
          </a:xfrm>
          <a:prstGeom prst="rect">
            <a:avLst/>
          </a:prstGeom>
        </p:spPr>
      </p:pic>
      <p:pic>
        <p:nvPicPr>
          <p:cNvPr id="10" name="Image 9" descr="Une image contenant symbole, logo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27CB157D-ECF0-9CEF-7625-8A279F309E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3055" y="5613793"/>
            <a:ext cx="1582961" cy="147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026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A44280-CDF2-8529-55BC-B5AC35F57092}"/>
              </a:ext>
            </a:extLst>
          </p:cNvPr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256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17427386-3085-F8A5-FE56-8142657FEB0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350" y="6457950"/>
            <a:ext cx="1333500" cy="266700"/>
          </a:xfrm>
          <a:prstGeom prst="rect">
            <a:avLst/>
          </a:prstGeom>
        </p:spPr>
      </p:pic>
      <p:pic>
        <p:nvPicPr>
          <p:cNvPr id="6" name="Image 5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ACA7552A-8C35-A9BB-85FC-7E35FF901E98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2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556" t="33333" r="15000" b="33704"/>
          <a:stretch/>
        </p:blipFill>
        <p:spPr>
          <a:xfrm>
            <a:off x="10624090" y="6358555"/>
            <a:ext cx="1307560" cy="465491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C1B7E851-6907-4E08-D810-C94D045AE822}"/>
              </a:ext>
            </a:extLst>
          </p:cNvPr>
          <p:cNvSpPr txBox="1">
            <a:spLocks/>
          </p:cNvSpPr>
          <p:nvPr/>
        </p:nvSpPr>
        <p:spPr>
          <a:xfrm>
            <a:off x="375055" y="250692"/>
            <a:ext cx="11258145" cy="5770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500" dirty="0">
                <a:solidFill>
                  <a:srgbClr val="2569ED"/>
                </a:solidFill>
                <a:ea typeface="Geist SemiBold" pitchFamily="2" charset="0"/>
                <a:cs typeface="Geist SemiBold" pitchFamily="2" charset="0"/>
              </a:rPr>
              <a:t>Un problème invisible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6F8CDE2E-9B58-92E0-1A85-795270673F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536" y="1032131"/>
            <a:ext cx="11038114" cy="515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979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F7A463B-DD67-6BAD-FADF-8BF63C094FCA}"/>
              </a:ext>
            </a:extLst>
          </p:cNvPr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256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923EA0E7-FCA5-606D-AB07-52850817FAF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350" y="6457950"/>
            <a:ext cx="1333500" cy="266700"/>
          </a:xfrm>
          <a:prstGeom prst="rect">
            <a:avLst/>
          </a:prstGeom>
        </p:spPr>
      </p:pic>
      <p:pic>
        <p:nvPicPr>
          <p:cNvPr id="6" name="Image 5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1F091C83-BB98-CF17-5060-5E0B9C4CFDE6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2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556" t="33333" r="15000" b="33704"/>
          <a:stretch/>
        </p:blipFill>
        <p:spPr>
          <a:xfrm>
            <a:off x="10624090" y="6358555"/>
            <a:ext cx="1307560" cy="46549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8F0547B-0C42-E046-D789-80D1D363BD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1607" y="829250"/>
            <a:ext cx="6788785" cy="5495350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36070A8-D3B9-FF54-74D8-EAAA505E21F8}"/>
              </a:ext>
            </a:extLst>
          </p:cNvPr>
          <p:cNvSpPr txBox="1">
            <a:spLocks/>
          </p:cNvSpPr>
          <p:nvPr/>
        </p:nvSpPr>
        <p:spPr>
          <a:xfrm>
            <a:off x="375055" y="250692"/>
            <a:ext cx="11258145" cy="5770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500" dirty="0">
                <a:solidFill>
                  <a:srgbClr val="2569ED"/>
                </a:solidFill>
                <a:ea typeface="Geist SemiBold" pitchFamily="2" charset="0"/>
                <a:cs typeface="Geist SemiBold" pitchFamily="2" charset="0"/>
              </a:rPr>
              <a:t>Organiser les dépendances</a:t>
            </a:r>
          </a:p>
        </p:txBody>
      </p:sp>
    </p:spTree>
    <p:extLst>
      <p:ext uri="{BB962C8B-B14F-4D97-AF65-F5344CB8AC3E}">
        <p14:creationId xmlns:p14="http://schemas.microsoft.com/office/powerpoint/2010/main" val="725474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065E6-E565-CE94-C018-39F9C62C3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A9BA30-0047-EC11-7B9D-6573E8E6B2C2}"/>
              </a:ext>
            </a:extLst>
          </p:cNvPr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256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A19E9942-05F9-97DC-CF74-733F7A1511C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350" y="6457950"/>
            <a:ext cx="1333500" cy="266700"/>
          </a:xfrm>
          <a:prstGeom prst="rect">
            <a:avLst/>
          </a:prstGeom>
        </p:spPr>
      </p:pic>
      <p:pic>
        <p:nvPicPr>
          <p:cNvPr id="6" name="Image 5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B83626D4-0482-E46E-A88A-E166FD6CB816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2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556" t="33333" r="15000" b="33704"/>
          <a:stretch/>
        </p:blipFill>
        <p:spPr>
          <a:xfrm>
            <a:off x="10624090" y="6358555"/>
            <a:ext cx="1307560" cy="465491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02913B77-D65F-6B77-239B-A24C2AD0C76A}"/>
              </a:ext>
            </a:extLst>
          </p:cNvPr>
          <p:cNvSpPr txBox="1">
            <a:spLocks/>
          </p:cNvSpPr>
          <p:nvPr/>
        </p:nvSpPr>
        <p:spPr>
          <a:xfrm>
            <a:off x="375055" y="250692"/>
            <a:ext cx="11258145" cy="5770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500" dirty="0">
                <a:solidFill>
                  <a:srgbClr val="2569ED"/>
                </a:solidFill>
                <a:ea typeface="Geist SemiBold" pitchFamily="2" charset="0"/>
                <a:cs typeface="Geist SemiBold" pitchFamily="2" charset="0"/>
              </a:rPr>
              <a:t>Organiser les dépendances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1E05FF5-C8B2-77E6-5140-D96A34EC2D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1770" y="827773"/>
            <a:ext cx="6934200" cy="534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054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951E7-69EF-A488-E1EE-1BE7A7A36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AF09226-21B8-576C-767B-1ABB9AB96F85}"/>
              </a:ext>
            </a:extLst>
          </p:cNvPr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256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8CB017E1-CA07-E9C3-FE39-449AD44BFF2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350" y="6457950"/>
            <a:ext cx="1333500" cy="266700"/>
          </a:xfrm>
          <a:prstGeom prst="rect">
            <a:avLst/>
          </a:prstGeom>
        </p:spPr>
      </p:pic>
      <p:pic>
        <p:nvPicPr>
          <p:cNvPr id="6" name="Image 5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E101272F-273E-5673-5880-A5DAF084D588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2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556" t="33333" r="15000" b="33704"/>
          <a:stretch/>
        </p:blipFill>
        <p:spPr>
          <a:xfrm>
            <a:off x="10624090" y="6358555"/>
            <a:ext cx="1307560" cy="465491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F83CD6F6-32F0-5196-71C8-AB308AC04B9B}"/>
              </a:ext>
            </a:extLst>
          </p:cNvPr>
          <p:cNvSpPr txBox="1">
            <a:spLocks/>
          </p:cNvSpPr>
          <p:nvPr/>
        </p:nvSpPr>
        <p:spPr>
          <a:xfrm>
            <a:off x="375055" y="250692"/>
            <a:ext cx="11258145" cy="5770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500" dirty="0">
                <a:solidFill>
                  <a:srgbClr val="2569ED"/>
                </a:solidFill>
                <a:ea typeface="Geist SemiBold" pitchFamily="2" charset="0"/>
                <a:cs typeface="Geist SemiBold" pitchFamily="2" charset="0"/>
              </a:rPr>
              <a:t>Comment on fait dans la pratique ?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9034617-CB0D-C287-AB89-7466A85BC4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043" y="1061866"/>
            <a:ext cx="9967913" cy="503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533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6E418-C112-E4E0-A4BF-08D32A279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75610BD-CF85-7368-CCB9-0078E2DAA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773" y="634853"/>
            <a:ext cx="9598454" cy="562307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982B5AB-FE0E-441B-64FD-98C381FE1AEE}"/>
              </a:ext>
            </a:extLst>
          </p:cNvPr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256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A4A35338-286E-D0A5-515C-F984482465C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350" y="6457950"/>
            <a:ext cx="1333500" cy="266700"/>
          </a:xfrm>
          <a:prstGeom prst="rect">
            <a:avLst/>
          </a:prstGeom>
        </p:spPr>
      </p:pic>
      <p:pic>
        <p:nvPicPr>
          <p:cNvPr id="6" name="Image 5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AD245573-0777-84BF-FC0C-17DC26438ADC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556" t="33333" r="15000" b="33704"/>
          <a:stretch/>
        </p:blipFill>
        <p:spPr>
          <a:xfrm>
            <a:off x="10624090" y="6358555"/>
            <a:ext cx="1307560" cy="465491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50630FEA-2323-9810-AC86-FD39F21B588F}"/>
              </a:ext>
            </a:extLst>
          </p:cNvPr>
          <p:cNvSpPr txBox="1">
            <a:spLocks/>
          </p:cNvSpPr>
          <p:nvPr/>
        </p:nvSpPr>
        <p:spPr>
          <a:xfrm>
            <a:off x="375055" y="250692"/>
            <a:ext cx="11258145" cy="5770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500" dirty="0">
                <a:solidFill>
                  <a:srgbClr val="2569ED"/>
                </a:solidFill>
                <a:ea typeface="Geist SemiBold" pitchFamily="2" charset="0"/>
                <a:cs typeface="Geist SemiBold" pitchFamily="2" charset="0"/>
              </a:rPr>
              <a:t>Comment on fait dans la pratique ?</a:t>
            </a:r>
          </a:p>
        </p:txBody>
      </p:sp>
    </p:spTree>
    <p:extLst>
      <p:ext uri="{BB962C8B-B14F-4D97-AF65-F5344CB8AC3E}">
        <p14:creationId xmlns:p14="http://schemas.microsoft.com/office/powerpoint/2010/main" val="555957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F0980-B80A-E763-A8C0-3999F3284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CF8459-922D-3991-977A-AF4DA067A14E}"/>
              </a:ext>
            </a:extLst>
          </p:cNvPr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256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36DAFB70-4BFE-60A5-3F72-60ABBA2E929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350" y="6457950"/>
            <a:ext cx="1333500" cy="266700"/>
          </a:xfrm>
          <a:prstGeom prst="rect">
            <a:avLst/>
          </a:prstGeom>
        </p:spPr>
      </p:pic>
      <p:pic>
        <p:nvPicPr>
          <p:cNvPr id="6" name="Image 5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33C462BF-2ED0-C083-5ED3-7C0EBAA88EEC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2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556" t="33333" r="15000" b="33704"/>
          <a:stretch/>
        </p:blipFill>
        <p:spPr>
          <a:xfrm>
            <a:off x="10624090" y="6358555"/>
            <a:ext cx="1307560" cy="465491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FDFFC06C-4C96-3746-E5BA-6440A2510213}"/>
              </a:ext>
            </a:extLst>
          </p:cNvPr>
          <p:cNvSpPr txBox="1">
            <a:spLocks/>
          </p:cNvSpPr>
          <p:nvPr/>
        </p:nvSpPr>
        <p:spPr>
          <a:xfrm>
            <a:off x="375055" y="250692"/>
            <a:ext cx="11258145" cy="5770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500" dirty="0">
                <a:solidFill>
                  <a:srgbClr val="2569ED"/>
                </a:solidFill>
                <a:ea typeface="Geist SemiBold" pitchFamily="2" charset="0"/>
                <a:cs typeface="Geist SemiBold" pitchFamily="2" charset="0"/>
              </a:rPr>
              <a:t>Comment on fait dans la pratique ?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117D7ED-5F7A-4747-2AB9-C6A696FB72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" y="768387"/>
            <a:ext cx="12192000" cy="555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147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1CD0E-3041-D399-F856-2C13D15CA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53C5F1-A6D6-FEE4-91D6-206F66218D29}"/>
              </a:ext>
            </a:extLst>
          </p:cNvPr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256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A21E61D1-7461-E161-302B-82FD4816A2E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350" y="6457950"/>
            <a:ext cx="1333500" cy="266700"/>
          </a:xfrm>
          <a:prstGeom prst="rect">
            <a:avLst/>
          </a:prstGeom>
        </p:spPr>
      </p:pic>
      <p:pic>
        <p:nvPicPr>
          <p:cNvPr id="6" name="Image 5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5DEC238A-9956-BEFE-30A3-12F316D79EAF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2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556" t="33333" r="15000" b="33704"/>
          <a:stretch/>
        </p:blipFill>
        <p:spPr>
          <a:xfrm>
            <a:off x="10624090" y="6358555"/>
            <a:ext cx="1307560" cy="465491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CF345BC6-D31F-B40F-2BC7-D6730B41B01A}"/>
              </a:ext>
            </a:extLst>
          </p:cNvPr>
          <p:cNvSpPr txBox="1">
            <a:spLocks/>
          </p:cNvSpPr>
          <p:nvPr/>
        </p:nvSpPr>
        <p:spPr>
          <a:xfrm>
            <a:off x="375055" y="250692"/>
            <a:ext cx="11258145" cy="5770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500" dirty="0">
                <a:solidFill>
                  <a:srgbClr val="2569ED"/>
                </a:solidFill>
                <a:ea typeface="Geist SemiBold" pitchFamily="2" charset="0"/>
                <a:cs typeface="Geist SemiBold" pitchFamily="2" charset="0"/>
              </a:rPr>
              <a:t>Comment on fait dans la pratique ?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66C366C-08C7-AFEF-FB92-1E9AA2F9E7F0}"/>
              </a:ext>
            </a:extLst>
          </p:cNvPr>
          <p:cNvSpPr txBox="1"/>
          <p:nvPr/>
        </p:nvSpPr>
        <p:spPr>
          <a:xfrm>
            <a:off x="4195354" y="2351227"/>
            <a:ext cx="4286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hlinkClick r:id="rId7"/>
              </a:rPr>
              <a:t>Documentation </a:t>
            </a:r>
            <a:r>
              <a:rPr lang="fr-FR" sz="3200" dirty="0" err="1">
                <a:hlinkClick r:id="rId7"/>
              </a:rPr>
              <a:t>uv</a:t>
            </a:r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EE84C9B-024E-D9C9-67F4-9769236525C2}"/>
              </a:ext>
            </a:extLst>
          </p:cNvPr>
          <p:cNvSpPr txBox="1"/>
          <p:nvPr/>
        </p:nvSpPr>
        <p:spPr>
          <a:xfrm>
            <a:off x="2595686" y="4459456"/>
            <a:ext cx="73271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hlinkClick r:id="rId8"/>
              </a:rPr>
              <a:t>Quel avenir dans l’</a:t>
            </a:r>
            <a:r>
              <a:rPr lang="fr-FR" sz="3200" dirty="0" err="1">
                <a:hlinkClick r:id="rId8"/>
              </a:rPr>
              <a:t>opensource</a:t>
            </a:r>
            <a:r>
              <a:rPr lang="fr-FR" sz="3200" dirty="0">
                <a:hlinkClick r:id="rId8"/>
              </a:rPr>
              <a:t> pour </a:t>
            </a:r>
            <a:r>
              <a:rPr lang="fr-FR" sz="3200" dirty="0" err="1">
                <a:hlinkClick r:id="rId8"/>
              </a:rPr>
              <a:t>uv</a:t>
            </a:r>
            <a:r>
              <a:rPr lang="fr-FR" sz="3200" dirty="0">
                <a:hlinkClick r:id="rId8"/>
              </a:rPr>
              <a:t> ? 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148513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73CF2-8350-7224-E786-E078DA448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2C6256E-ECAE-9393-9BEE-667A663F09E7}"/>
              </a:ext>
            </a:extLst>
          </p:cNvPr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256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6A585CCF-AEFD-8FED-0ABB-9FAB709214A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350" y="6457950"/>
            <a:ext cx="1333500" cy="266700"/>
          </a:xfrm>
          <a:prstGeom prst="rect">
            <a:avLst/>
          </a:prstGeom>
        </p:spPr>
      </p:pic>
      <p:pic>
        <p:nvPicPr>
          <p:cNvPr id="6" name="Image 5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7268AF3A-6887-B6BE-8E14-989EE4C3133A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2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556" t="33333" r="15000" b="33704"/>
          <a:stretch/>
        </p:blipFill>
        <p:spPr>
          <a:xfrm>
            <a:off x="10624090" y="6358555"/>
            <a:ext cx="1307560" cy="465491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49FAED2B-D615-A175-2406-DCD8B6B2FB5F}"/>
              </a:ext>
            </a:extLst>
          </p:cNvPr>
          <p:cNvSpPr txBox="1">
            <a:spLocks/>
          </p:cNvSpPr>
          <p:nvPr/>
        </p:nvSpPr>
        <p:spPr>
          <a:xfrm>
            <a:off x="375055" y="250692"/>
            <a:ext cx="11258145" cy="5770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500" dirty="0">
                <a:solidFill>
                  <a:srgbClr val="2569ED"/>
                </a:solidFill>
                <a:ea typeface="Geist SemiBold" pitchFamily="2" charset="0"/>
                <a:cs typeface="Geist SemiBold" pitchFamily="2" charset="0"/>
              </a:rPr>
              <a:t>Comment on fait dans la pratique ?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4A56449-5510-DBB0-38B4-7DB5188B22BB}"/>
              </a:ext>
            </a:extLst>
          </p:cNvPr>
          <p:cNvSpPr txBox="1"/>
          <p:nvPr/>
        </p:nvSpPr>
        <p:spPr>
          <a:xfrm>
            <a:off x="1361440" y="2091774"/>
            <a:ext cx="1057021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fr-FR" sz="2800" dirty="0">
                <a:hlinkClick r:id="rId7"/>
              </a:rPr>
              <a:t>Lancer un service </a:t>
            </a:r>
            <a:r>
              <a:rPr lang="fr-FR" sz="2800" dirty="0" err="1">
                <a:hlinkClick r:id="rId7"/>
              </a:rPr>
              <a:t>Vscode</a:t>
            </a:r>
            <a:r>
              <a:rPr lang="fr-FR" sz="2800" dirty="0">
                <a:hlinkClick r:id="rId7"/>
              </a:rPr>
              <a:t> sur </a:t>
            </a:r>
            <a:r>
              <a:rPr lang="fr-FR" sz="2800" dirty="0" err="1">
                <a:hlinkClick r:id="rId7"/>
              </a:rPr>
              <a:t>Onyxia</a:t>
            </a:r>
            <a:endParaRPr lang="fr-FR" sz="2800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fr-FR" sz="2800" dirty="0"/>
              <a:t>Vérifier que </a:t>
            </a:r>
            <a:r>
              <a:rPr lang="fr-FR" sz="2800" dirty="0" err="1"/>
              <a:t>uv</a:t>
            </a:r>
            <a:r>
              <a:rPr lang="fr-FR" sz="2800" dirty="0"/>
              <a:t> est bien installé avec la commande </a:t>
            </a:r>
            <a:r>
              <a:rPr lang="fr-FR" sz="2800" b="1" i="1" dirty="0" err="1"/>
              <a:t>pip</a:t>
            </a:r>
            <a:r>
              <a:rPr lang="fr-FR" sz="2800" b="1" i="1" dirty="0"/>
              <a:t> show </a:t>
            </a:r>
            <a:r>
              <a:rPr lang="fr-FR" sz="2800" b="1" i="1" dirty="0" err="1"/>
              <a:t>uv</a:t>
            </a:r>
            <a:endParaRPr lang="fr-FR" sz="2800" b="1" i="1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fr-FR" sz="2800" dirty="0"/>
              <a:t>Initialisez </a:t>
            </a:r>
            <a:r>
              <a:rPr lang="fr-FR" sz="2800" dirty="0" err="1"/>
              <a:t>uv</a:t>
            </a:r>
            <a:r>
              <a:rPr lang="fr-FR" sz="2800" dirty="0"/>
              <a:t> avec la commande </a:t>
            </a:r>
            <a:r>
              <a:rPr lang="fr-FR" sz="2800" b="1" i="1" dirty="0" err="1"/>
              <a:t>uv</a:t>
            </a:r>
            <a:r>
              <a:rPr lang="fr-FR" sz="2800" b="1" i="1" dirty="0"/>
              <a:t> init 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fr-FR" sz="2800" dirty="0"/>
              <a:t>Parcourez la documentation et testez par vous-même !</a:t>
            </a:r>
          </a:p>
        </p:txBody>
      </p:sp>
    </p:spTree>
    <p:extLst>
      <p:ext uri="{BB962C8B-B14F-4D97-AF65-F5344CB8AC3E}">
        <p14:creationId xmlns:p14="http://schemas.microsoft.com/office/powerpoint/2010/main" val="737610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9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FA650B-4369-37F7-8603-81F0237FF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11F5F88A-98DF-C563-5A79-590BB454D6C0}"/>
              </a:ext>
            </a:extLst>
          </p:cNvPr>
          <p:cNvSpPr txBox="1">
            <a:spLocks/>
          </p:cNvSpPr>
          <p:nvPr/>
        </p:nvSpPr>
        <p:spPr>
          <a:xfrm>
            <a:off x="171450" y="3423803"/>
            <a:ext cx="9298003" cy="7499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ist SemiBold" pitchFamily="2" charset="0"/>
                <a:ea typeface="Geist SemiBold" pitchFamily="2" charset="0"/>
                <a:cs typeface="Geist SemiBold" pitchFamily="2" charset="0"/>
              </a:rPr>
              <a:t>Comment </a:t>
            </a:r>
            <a:r>
              <a:rPr kumimoji="0" lang="fr-FR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ist SemiBold" pitchFamily="2" charset="0"/>
                <a:ea typeface="Geist SemiBold" pitchFamily="2" charset="0"/>
                <a:cs typeface="Geist SemiBold" pitchFamily="2" charset="0"/>
              </a:rPr>
              <a:t>structurer</a:t>
            </a:r>
            <a:r>
              <a:rPr kumimoji="0" lang="fr-F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ist SemiBold" pitchFamily="2" charset="0"/>
                <a:ea typeface="Geist SemiBold" pitchFamily="2" charset="0"/>
                <a:cs typeface="Geist SemiBold" pitchFamily="2" charset="0"/>
              </a:rPr>
              <a:t> un projet python ?</a:t>
            </a:r>
          </a:p>
        </p:txBody>
      </p:sp>
      <p:pic>
        <p:nvPicPr>
          <p:cNvPr id="5" name="Image 4" descr="Une image contenant symbole, noir et blanc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E553FDAB-9EB5-704D-686D-8409AAD05C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058" y="3423803"/>
            <a:ext cx="1472807" cy="147280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9A24667-5172-D3D6-C630-E8257EEBA2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5326" y="3054018"/>
            <a:ext cx="1027729" cy="749964"/>
          </a:xfrm>
          <a:prstGeom prst="rect">
            <a:avLst/>
          </a:prstGeom>
        </p:spPr>
      </p:pic>
      <p:pic>
        <p:nvPicPr>
          <p:cNvPr id="8" name="Image 7" descr="Une image contenant symbole, logo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1210983-783F-95D5-C124-C2CF586656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3055" y="-959123"/>
            <a:ext cx="1582961" cy="1472807"/>
          </a:xfrm>
          <a:prstGeom prst="rect">
            <a:avLst/>
          </a:prstGeom>
        </p:spPr>
      </p:pic>
      <p:pic>
        <p:nvPicPr>
          <p:cNvPr id="9" name="Image 8" descr="Une image contenant clipart, symbole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FFC57B1E-F3DE-2E07-2DE9-601D6F3ADD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94" y="1230867"/>
            <a:ext cx="1460125" cy="1475753"/>
          </a:xfrm>
          <a:prstGeom prst="rect">
            <a:avLst/>
          </a:prstGeom>
        </p:spPr>
      </p:pic>
      <p:pic>
        <p:nvPicPr>
          <p:cNvPr id="10" name="Image 9" descr="Une image contenant symbole, logo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CAF92D47-0009-0C6B-4B96-6909796C1A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3055" y="5613793"/>
            <a:ext cx="1582961" cy="147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432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420497F-2F49-B281-5E9B-C702DACC8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850" y="502920"/>
            <a:ext cx="9371850" cy="59550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932C83C-EA92-A776-4EDB-9550C1956B74}"/>
              </a:ext>
            </a:extLst>
          </p:cNvPr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256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0BF52F26-ABBB-EB3D-3B99-27A9538A2E5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350" y="6457950"/>
            <a:ext cx="1333500" cy="266700"/>
          </a:xfrm>
          <a:prstGeom prst="rect">
            <a:avLst/>
          </a:prstGeom>
        </p:spPr>
      </p:pic>
      <p:pic>
        <p:nvPicPr>
          <p:cNvPr id="8" name="Image 7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4AC75247-B243-01A7-623D-24D0D692DC9C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556" t="33333" r="15000" b="33704"/>
          <a:stretch/>
        </p:blipFill>
        <p:spPr>
          <a:xfrm>
            <a:off x="10624090" y="6358555"/>
            <a:ext cx="1307560" cy="46549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442C58FD-E8D6-19AC-71F5-5744A12256C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32452" b="31357"/>
          <a:stretch>
            <a:fillRect/>
          </a:stretch>
        </p:blipFill>
        <p:spPr>
          <a:xfrm>
            <a:off x="4031875" y="89263"/>
            <a:ext cx="4495800" cy="41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875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66855-05D2-0384-B758-3F16508D6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292F6B2-4BF0-C57D-9577-5B0DCB8C6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2" y="133350"/>
            <a:ext cx="9515475" cy="65722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F6E0367-45B8-B2FE-4E68-C3E85571B55D}"/>
              </a:ext>
            </a:extLst>
          </p:cNvPr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256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AA0B23B7-3CE8-70C6-CE43-699F4D61B56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350" y="6457950"/>
            <a:ext cx="1333500" cy="266700"/>
          </a:xfrm>
          <a:prstGeom prst="rect">
            <a:avLst/>
          </a:prstGeom>
        </p:spPr>
      </p:pic>
      <p:pic>
        <p:nvPicPr>
          <p:cNvPr id="7" name="Image 6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E09A166E-3D92-39E9-DA76-CDB76E0B1D06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556" t="33333" r="15000" b="33704"/>
          <a:stretch/>
        </p:blipFill>
        <p:spPr>
          <a:xfrm>
            <a:off x="10624090" y="6358555"/>
            <a:ext cx="1307560" cy="46549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960C5DD-B102-913E-99CF-B690FE8302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7055" y="2011680"/>
            <a:ext cx="3184122" cy="24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416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B00772FD-1219-FD09-FB77-5D40CAD9A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959" y="746470"/>
            <a:ext cx="8580103" cy="559879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82B74D2-962A-0112-A567-4B49B076C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372" y="126020"/>
            <a:ext cx="4686028" cy="6204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11E5193-D06C-3590-1C23-6E66042B394F}"/>
              </a:ext>
            </a:extLst>
          </p:cNvPr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256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8DA8AF40-AC68-6B5E-7498-C3DAE361DE9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350" y="6457950"/>
            <a:ext cx="1333500" cy="266700"/>
          </a:xfrm>
          <a:prstGeom prst="rect">
            <a:avLst/>
          </a:prstGeom>
        </p:spPr>
      </p:pic>
      <p:pic>
        <p:nvPicPr>
          <p:cNvPr id="10" name="Image 9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3AED9682-2684-6F1A-6C24-E1F1B20FA7AA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556" t="33333" r="15000" b="33704"/>
          <a:stretch/>
        </p:blipFill>
        <p:spPr>
          <a:xfrm>
            <a:off x="10884440" y="6282065"/>
            <a:ext cx="1307560" cy="46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887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ataOps : Fiche Métier Spécialisé - DataBird">
            <a:extLst>
              <a:ext uri="{FF2B5EF4-FFF2-40B4-BE49-F238E27FC236}">
                <a16:creationId xmlns:a16="http://schemas.microsoft.com/office/drawing/2014/main" id="{57354E1A-1ADB-3411-8076-D1F96350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1624" y="1503988"/>
            <a:ext cx="5165877" cy="3425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A3458BCF-0FC9-2221-D418-E8A3841BA364}"/>
              </a:ext>
            </a:extLst>
          </p:cNvPr>
          <p:cNvSpPr txBox="1"/>
          <p:nvPr/>
        </p:nvSpPr>
        <p:spPr>
          <a:xfrm>
            <a:off x="3863340" y="5172412"/>
            <a:ext cx="480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hlinkClick r:id="rId4"/>
              </a:rPr>
              <a:t>Le cercle infini du </a:t>
            </a:r>
            <a:r>
              <a:rPr lang="fr-FR" sz="2800" dirty="0" err="1">
                <a:hlinkClick r:id="rId4"/>
              </a:rPr>
              <a:t>DataOps</a:t>
            </a:r>
            <a:endParaRPr lang="fr-FR" sz="28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A5BEA3E-B439-D8C5-70C0-C9CC4A49F7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7444"/>
          <a:stretch>
            <a:fillRect/>
          </a:stretch>
        </p:blipFill>
        <p:spPr>
          <a:xfrm>
            <a:off x="3057978" y="373185"/>
            <a:ext cx="6229350" cy="81631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A565DD5-99E3-AF02-80AD-797D20879F84}"/>
              </a:ext>
            </a:extLst>
          </p:cNvPr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256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ADC41120-FC98-5430-621E-8156E5450FDD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10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350" y="6457950"/>
            <a:ext cx="1333500" cy="266700"/>
          </a:xfrm>
          <a:prstGeom prst="rect">
            <a:avLst/>
          </a:prstGeom>
        </p:spPr>
      </p:pic>
      <p:pic>
        <p:nvPicPr>
          <p:cNvPr id="9" name="Image 8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54923ADE-FF73-BAC5-6EC2-A41B87992ABD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2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556" t="33333" r="15000" b="33704"/>
          <a:stretch/>
        </p:blipFill>
        <p:spPr>
          <a:xfrm>
            <a:off x="10624090" y="6358555"/>
            <a:ext cx="1307560" cy="46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513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38D7715-3F0D-84C7-D135-729709639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835" y="578630"/>
            <a:ext cx="9575483" cy="57629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874EA1-601F-975D-BA07-8AB49B7B2769}"/>
              </a:ext>
            </a:extLst>
          </p:cNvPr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256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20A61C3D-EBE0-73A9-BC8E-BE72F7A1ADA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350" y="6457950"/>
            <a:ext cx="1333500" cy="266700"/>
          </a:xfrm>
          <a:prstGeom prst="rect">
            <a:avLst/>
          </a:prstGeom>
        </p:spPr>
      </p:pic>
      <p:pic>
        <p:nvPicPr>
          <p:cNvPr id="8" name="Image 7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CA9A1CA5-70A2-BFB4-93E9-F107E1EA60DD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556" t="33333" r="15000" b="33704"/>
          <a:stretch/>
        </p:blipFill>
        <p:spPr>
          <a:xfrm>
            <a:off x="10624090" y="6358555"/>
            <a:ext cx="1307560" cy="46549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B8B80E2-A626-4B50-A924-5BFAD01E8F7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5050" b="32499"/>
          <a:stretch>
            <a:fillRect/>
          </a:stretch>
        </p:blipFill>
        <p:spPr>
          <a:xfrm>
            <a:off x="3895725" y="272143"/>
            <a:ext cx="4400550" cy="32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376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A0DEE-9E1D-63F1-ECD9-A46DC3CDC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6A9DE08-04D8-E751-615E-29794D184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850" y="470744"/>
            <a:ext cx="9600019" cy="603068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A204B48-5397-9A17-E63C-AFA0AEAA57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3879"/>
          <a:stretch>
            <a:fillRect/>
          </a:stretch>
        </p:blipFill>
        <p:spPr>
          <a:xfrm>
            <a:off x="2332600" y="0"/>
            <a:ext cx="7526800" cy="57966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586BC36-0E19-D025-C0DB-8C208C2D8C7B}"/>
              </a:ext>
            </a:extLst>
          </p:cNvPr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256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EA11572F-78E7-DA88-8827-C82E11D6F3E8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10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0350" y="6457950"/>
            <a:ext cx="1333500" cy="266700"/>
          </a:xfrm>
          <a:prstGeom prst="rect">
            <a:avLst/>
          </a:prstGeom>
        </p:spPr>
      </p:pic>
      <p:pic>
        <p:nvPicPr>
          <p:cNvPr id="9" name="Image 8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F0602D24-44FF-FDD8-0DC0-CE3F0B3714AA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2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556" t="33333" r="15000" b="33704"/>
          <a:stretch/>
        </p:blipFill>
        <p:spPr>
          <a:xfrm>
            <a:off x="10624090" y="6358555"/>
            <a:ext cx="1307560" cy="46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02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88AA4-9DD2-28A3-51B6-92E3F9C66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055469D7-4725-6504-FCFE-B427935F5F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3879"/>
          <a:stretch>
            <a:fillRect/>
          </a:stretch>
        </p:blipFill>
        <p:spPr>
          <a:xfrm>
            <a:off x="1411061" y="10180"/>
            <a:ext cx="8666746" cy="6674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585E6CD-7CE0-E1F3-95C9-32491F8181B5}"/>
              </a:ext>
            </a:extLst>
          </p:cNvPr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256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12175B5B-1155-85FE-5F10-1BCEE2DA9C4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350" y="6457950"/>
            <a:ext cx="1333500" cy="266700"/>
          </a:xfrm>
          <a:prstGeom prst="rect">
            <a:avLst/>
          </a:prstGeom>
        </p:spPr>
      </p:pic>
      <p:pic>
        <p:nvPicPr>
          <p:cNvPr id="9" name="Image 8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A08C29F3-FD03-48D8-306B-05A841DF65F4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556" t="33333" r="15000" b="33704"/>
          <a:stretch/>
        </p:blipFill>
        <p:spPr>
          <a:xfrm>
            <a:off x="10624090" y="6358555"/>
            <a:ext cx="1307560" cy="46549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3EA7307-95D0-C210-9DB5-2081035CE11B}"/>
              </a:ext>
            </a:extLst>
          </p:cNvPr>
          <p:cNvSpPr txBox="1"/>
          <p:nvPr/>
        </p:nvSpPr>
        <p:spPr>
          <a:xfrm>
            <a:off x="4223658" y="2905780"/>
            <a:ext cx="4386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 err="1">
                <a:hlinkClick r:id="rId8"/>
              </a:rPr>
              <a:t>Cookiecutter</a:t>
            </a:r>
            <a:r>
              <a:rPr lang="fr-FR" sz="2800" dirty="0">
                <a:hlinkClick r:id="rId8"/>
              </a:rPr>
              <a:t> </a:t>
            </a:r>
            <a:r>
              <a:rPr lang="fr-FR" sz="2800" dirty="0" err="1">
                <a:hlinkClick r:id="rId8"/>
              </a:rPr>
              <a:t>templates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787814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9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246E4C-9F0C-E2E1-F30A-C67F2FDA2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54E8254B-AC09-8C07-DB57-20840CC8FEFC}"/>
              </a:ext>
            </a:extLst>
          </p:cNvPr>
          <p:cNvSpPr txBox="1">
            <a:spLocks/>
          </p:cNvSpPr>
          <p:nvPr/>
        </p:nvSpPr>
        <p:spPr>
          <a:xfrm>
            <a:off x="171450" y="3423803"/>
            <a:ext cx="9298003" cy="7499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ist SemiBold" pitchFamily="2" charset="0"/>
                <a:ea typeface="Geist SemiBold" pitchFamily="2" charset="0"/>
                <a:cs typeface="Geist SemiBold" pitchFamily="2" charset="0"/>
              </a:rPr>
              <a:t>Linter &amp; </a:t>
            </a:r>
            <a:r>
              <a:rPr lang="fr-FR" sz="4400" b="1" dirty="0">
                <a:solidFill>
                  <a:prstClr val="white"/>
                </a:solidFill>
                <a:latin typeface="Geist SemiBold" pitchFamily="2" charset="0"/>
                <a:ea typeface="Geist SemiBold" pitchFamily="2" charset="0"/>
                <a:cs typeface="Geist SemiBold" pitchFamily="2" charset="0"/>
              </a:rPr>
              <a:t>formatter</a:t>
            </a:r>
            <a:endParaRPr kumimoji="0" lang="fr-FR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ist SemiBold" pitchFamily="2" charset="0"/>
              <a:ea typeface="Geist SemiBold" pitchFamily="2" charset="0"/>
              <a:cs typeface="Geist SemiBold" pitchFamily="2" charset="0"/>
            </a:endParaRPr>
          </a:p>
        </p:txBody>
      </p:sp>
      <p:pic>
        <p:nvPicPr>
          <p:cNvPr id="5" name="Image 4" descr="Une image contenant symbole, noir et blanc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B43BF67D-27B7-827C-497E-3BBF584A9A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058" y="3423803"/>
            <a:ext cx="1472807" cy="147280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31D65A6-C402-4F5B-B267-E4A1962CDA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2441" y="3090531"/>
            <a:ext cx="1027729" cy="749964"/>
          </a:xfrm>
          <a:prstGeom prst="rect">
            <a:avLst/>
          </a:prstGeom>
        </p:spPr>
      </p:pic>
      <p:pic>
        <p:nvPicPr>
          <p:cNvPr id="8" name="Image 7" descr="Une image contenant symbole, logo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EC806291-5F7E-E2B8-F55C-B33C03EC1C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3055" y="-959123"/>
            <a:ext cx="1582961" cy="1472807"/>
          </a:xfrm>
          <a:prstGeom prst="rect">
            <a:avLst/>
          </a:prstGeom>
        </p:spPr>
      </p:pic>
      <p:pic>
        <p:nvPicPr>
          <p:cNvPr id="9" name="Image 8" descr="Une image contenant clipart, symbole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96135767-3F44-55C0-FA5E-36CE1B6DF5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94" y="1230867"/>
            <a:ext cx="1460125" cy="1475753"/>
          </a:xfrm>
          <a:prstGeom prst="rect">
            <a:avLst/>
          </a:prstGeom>
        </p:spPr>
      </p:pic>
      <p:pic>
        <p:nvPicPr>
          <p:cNvPr id="10" name="Image 9" descr="Une image contenant symbole, logo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38E3587-0E9C-12C5-6504-4BBD0AB976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3055" y="5613793"/>
            <a:ext cx="1582961" cy="147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77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13635BD-5AF4-F1B6-982E-AF69528CF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71" y="33954"/>
            <a:ext cx="10449519" cy="27057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5D072A7-6A19-FDD7-9876-8D812DE321A7}"/>
              </a:ext>
            </a:extLst>
          </p:cNvPr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256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A3235E08-18C9-7A6D-E300-752340EAD2A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350" y="6457950"/>
            <a:ext cx="1333500" cy="266700"/>
          </a:xfrm>
          <a:prstGeom prst="rect">
            <a:avLst/>
          </a:prstGeom>
        </p:spPr>
      </p:pic>
      <p:pic>
        <p:nvPicPr>
          <p:cNvPr id="8" name="Image 7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05BB4519-6325-1EFA-9804-1BB6C2CA9A51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556" t="33333" r="15000" b="33704"/>
          <a:stretch/>
        </p:blipFill>
        <p:spPr>
          <a:xfrm>
            <a:off x="10624090" y="6358555"/>
            <a:ext cx="1307560" cy="465491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ABA9E0AD-AE7D-8FBE-08C7-DA4E8F64C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692" y="2736654"/>
            <a:ext cx="3658280" cy="2436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31042612-90EC-026A-4673-A7A3001F2646}"/>
              </a:ext>
            </a:extLst>
          </p:cNvPr>
          <p:cNvSpPr txBox="1"/>
          <p:nvPr/>
        </p:nvSpPr>
        <p:spPr>
          <a:xfrm>
            <a:off x="2438605" y="574883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hlinkClick r:id="rId9"/>
              </a:rPr>
              <a:t>Lint (</a:t>
            </a:r>
            <a:r>
              <a:rPr lang="fr-FR" dirty="0" err="1">
                <a:hlinkClick r:id="rId9"/>
              </a:rPr>
              <a:t>sofware</a:t>
            </a:r>
            <a:r>
              <a:rPr lang="fr-FR" dirty="0">
                <a:hlinkClick r:id="rId9"/>
              </a:rPr>
              <a:t>)</a:t>
            </a:r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7D7E8CF-EA1A-B63C-3D0E-6D1AAB22F8BE}"/>
              </a:ext>
            </a:extLst>
          </p:cNvPr>
          <p:cNvSpPr txBox="1"/>
          <p:nvPr/>
        </p:nvSpPr>
        <p:spPr>
          <a:xfrm>
            <a:off x="2438605" y="5379502"/>
            <a:ext cx="1566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hlinkClick r:id="rId10"/>
              </a:rPr>
              <a:t>Lint (</a:t>
            </a:r>
            <a:r>
              <a:rPr lang="fr-FR" dirty="0" err="1">
                <a:hlinkClick r:id="rId10"/>
              </a:rPr>
              <a:t>material</a:t>
            </a:r>
            <a:r>
              <a:rPr lang="fr-FR" dirty="0">
                <a:hlinkClick r:id="rId10"/>
              </a:rPr>
              <a:t>)</a:t>
            </a:r>
            <a:endParaRPr lang="fr-FR" dirty="0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FB5CEC0C-C690-936E-0347-90381A89C80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37851" y="2396275"/>
            <a:ext cx="4155371" cy="3120252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B06224FA-C15B-FE15-CD17-B0D4EBB0FADE}"/>
              </a:ext>
            </a:extLst>
          </p:cNvPr>
          <p:cNvSpPr txBox="1"/>
          <p:nvPr/>
        </p:nvSpPr>
        <p:spPr>
          <a:xfrm>
            <a:off x="7619797" y="5667385"/>
            <a:ext cx="2168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hlinkClick r:id="rId12"/>
              </a:rPr>
              <a:t>Ruff documentation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71314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96CC0-EA81-25C8-D810-A9599296C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52BA31E-A1A9-C9AE-99A0-5A7DF2A6D668}"/>
              </a:ext>
            </a:extLst>
          </p:cNvPr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256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F50627EC-5C21-2603-B016-A0E48F7BB12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350" y="6457950"/>
            <a:ext cx="1333500" cy="266700"/>
          </a:xfrm>
          <a:prstGeom prst="rect">
            <a:avLst/>
          </a:prstGeom>
        </p:spPr>
      </p:pic>
      <p:pic>
        <p:nvPicPr>
          <p:cNvPr id="8" name="Image 7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BD938DB1-AE86-AE1E-FA7B-97B6882729F6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2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556" t="33333" r="15000" b="33704"/>
          <a:stretch/>
        </p:blipFill>
        <p:spPr>
          <a:xfrm>
            <a:off x="10624090" y="6358555"/>
            <a:ext cx="1307560" cy="465491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A7F1398C-0AAA-7582-0E1C-52D2F6C686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7492" y="2024743"/>
            <a:ext cx="5437015" cy="395021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6C201C1-D1D2-586C-62B7-83BA6CE87E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379" y="211525"/>
            <a:ext cx="8554157" cy="194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974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2B7ED-725D-BCAB-5813-340328011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DCDF5CF-6A41-0071-D583-90DD07F759A1}"/>
              </a:ext>
            </a:extLst>
          </p:cNvPr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256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3EF5412C-4637-F69B-7608-FAF3F7D6FA4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350" y="6457950"/>
            <a:ext cx="1333500" cy="266700"/>
          </a:xfrm>
          <a:prstGeom prst="rect">
            <a:avLst/>
          </a:prstGeom>
        </p:spPr>
      </p:pic>
      <p:pic>
        <p:nvPicPr>
          <p:cNvPr id="8" name="Image 7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907BB4C0-2ACE-726B-6CCC-886DDD9D1155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2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556" t="33333" r="15000" b="33704"/>
          <a:stretch/>
        </p:blipFill>
        <p:spPr>
          <a:xfrm>
            <a:off x="10624090" y="6358555"/>
            <a:ext cx="1307560" cy="465491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79D13E2-6545-43A2-7672-26B7D4BD51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7558" y="440205"/>
            <a:ext cx="6976883" cy="534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0838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Yugioh GIFs | Tenor">
            <a:extLst>
              <a:ext uri="{FF2B5EF4-FFF2-40B4-BE49-F238E27FC236}">
                <a16:creationId xmlns:a16="http://schemas.microsoft.com/office/drawing/2014/main" id="{DE32983D-778D-7FCA-E63C-5C85FAD01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818" y="2242458"/>
            <a:ext cx="5044363" cy="3531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F04190-1DDC-6B89-518F-C2A76EE4B720}"/>
              </a:ext>
            </a:extLst>
          </p:cNvPr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256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144A14B8-6442-BBBC-7164-CC0AA6B2494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350" y="6457950"/>
            <a:ext cx="1333500" cy="266700"/>
          </a:xfrm>
          <a:prstGeom prst="rect">
            <a:avLst/>
          </a:prstGeom>
        </p:spPr>
      </p:pic>
      <p:pic>
        <p:nvPicPr>
          <p:cNvPr id="6" name="Image 5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2687F493-F3FC-1F32-1E6A-FFBC54191FDA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556" t="33333" r="15000" b="33704"/>
          <a:stretch/>
        </p:blipFill>
        <p:spPr>
          <a:xfrm>
            <a:off x="10624090" y="6358555"/>
            <a:ext cx="1307560" cy="46549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D85EF75-BF5D-A101-2314-BD623C153F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2154" y="343678"/>
            <a:ext cx="10922907" cy="156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0568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8F7D3-B2EF-848D-D0BF-E1BAAB645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94977C-7085-6806-4454-859890B60E72}"/>
              </a:ext>
            </a:extLst>
          </p:cNvPr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2569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2016FC9C-037B-C244-0BAE-1D00664A129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350" y="6457950"/>
            <a:ext cx="1333500" cy="266700"/>
          </a:xfrm>
          <a:prstGeom prst="rect">
            <a:avLst/>
          </a:prstGeom>
        </p:spPr>
      </p:pic>
      <p:pic>
        <p:nvPicPr>
          <p:cNvPr id="6" name="Image 5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273ACC94-BF8F-0D9B-A430-E96AA8771085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2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556" t="33333" r="15000" b="33704"/>
          <a:stretch/>
        </p:blipFill>
        <p:spPr>
          <a:xfrm>
            <a:off x="10624090" y="6358555"/>
            <a:ext cx="1307560" cy="465491"/>
          </a:xfrm>
          <a:prstGeom prst="rect">
            <a:avLst/>
          </a:prstGeom>
        </p:spPr>
      </p:pic>
      <p:pic>
        <p:nvPicPr>
          <p:cNvPr id="4098" name="Picture 2" descr="The Dunning-Kruger Effect: Uncovering the Concept with ...">
            <a:extLst>
              <a:ext uri="{FF2B5EF4-FFF2-40B4-BE49-F238E27FC236}">
                <a16:creationId xmlns:a16="http://schemas.microsoft.com/office/drawing/2014/main" id="{AA9A5E92-7B9F-6D83-654B-2BDAC969F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687" y="1184226"/>
            <a:ext cx="6278725" cy="413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0016447-9F40-FF09-4609-D4931187AC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494" y="189690"/>
            <a:ext cx="6597650" cy="687420"/>
          </a:xfrm>
          <a:prstGeom prst="rect">
            <a:avLst/>
          </a:prstGeom>
        </p:spPr>
      </p:pic>
      <p:sp>
        <p:nvSpPr>
          <p:cNvPr id="7" name="ZoneTexte 6">
            <a:hlinkClick r:id="rId9"/>
            <a:extLst>
              <a:ext uri="{FF2B5EF4-FFF2-40B4-BE49-F238E27FC236}">
                <a16:creationId xmlns:a16="http://schemas.microsoft.com/office/drawing/2014/main" id="{D7FC9F6C-035B-7A86-E73D-02D774098657}"/>
              </a:ext>
            </a:extLst>
          </p:cNvPr>
          <p:cNvSpPr txBox="1"/>
          <p:nvPr/>
        </p:nvSpPr>
        <p:spPr>
          <a:xfrm>
            <a:off x="4830390" y="5627914"/>
            <a:ext cx="2388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hlinkClick r:id="rId9"/>
              </a:rPr>
              <a:t>L’effet </a:t>
            </a:r>
            <a:r>
              <a:rPr lang="fr-FR" dirty="0" err="1">
                <a:hlinkClick r:id="rId9"/>
              </a:rPr>
              <a:t>Dunning</a:t>
            </a:r>
            <a:r>
              <a:rPr lang="fr-FR" dirty="0">
                <a:hlinkClick r:id="rId9"/>
              </a:rPr>
              <a:t>-Kruger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62938376"/>
      </p:ext>
    </p:extLst>
  </p:cSld>
  <p:clrMapOvr>
    <a:masterClrMapping/>
  </p:clrMapOvr>
</p:sld>
</file>

<file path=ppt/theme/theme1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</TotalTime>
  <Words>485</Words>
  <Application>Microsoft Office PowerPoint</Application>
  <PresentationFormat>Grand écran</PresentationFormat>
  <Paragraphs>75</Paragraphs>
  <Slides>23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Geist</vt:lpstr>
      <vt:lpstr>Geist SemiBold</vt:lpstr>
      <vt:lpstr>1_Thème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Fabien Hos</dc:creator>
  <cp:lastModifiedBy>Fabien Hos</cp:lastModifiedBy>
  <cp:revision>3</cp:revision>
  <dcterms:created xsi:type="dcterms:W3CDTF">2026-03-22T11:12:57Z</dcterms:created>
  <dcterms:modified xsi:type="dcterms:W3CDTF">2026-03-22T23:20:13Z</dcterms:modified>
</cp:coreProperties>
</file>